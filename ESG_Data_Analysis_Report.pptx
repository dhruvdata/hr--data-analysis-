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ESG Country-Series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Comprehensive Study of Global ESG Indicators</a:t>
            </a:r>
          </a:p>
          <a:p>
            <a:r>
              <a:t>Prepared by Data Analyst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Total Records: 1,349</a:t>
            </a:r>
          </a:p>
          <a:p>
            <a:r>
              <a:t>• Number of Countries: 204</a:t>
            </a:r>
          </a:p>
          <a:p>
            <a:r>
              <a:t>• Number of ESG Indicators: 12</a:t>
            </a:r>
          </a:p>
          <a:p>
            <a:r>
              <a:t>• Key Columns: CountryCode, SeriesCode, DESCRIPTION</a:t>
            </a:r>
          </a:p>
          <a:p>
            <a:r>
              <a:t>• Missing Data: Minimal (only 'Unnamed: 3' was removed)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ESG Indicator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Top Indicators (found in 180+ countries):</a:t>
            </a:r>
          </a:p>
          <a:p>
            <a:r>
              <a:t>  - SP.DYN.TFRT.IN (Total Fertility Rate)</a:t>
            </a:r>
          </a:p>
          <a:p>
            <a:r>
              <a:t>  - SP.DYN.LE00.IN (Life Expectancy at Birth)</a:t>
            </a:r>
          </a:p>
          <a:p>
            <a:r>
              <a:t>  - IT.NET.USER.ZS (Internet Users, % of population)</a:t>
            </a:r>
          </a:p>
          <a:p>
            <a:r>
              <a:t>  - EG.EGY.PRIM.PP.KD (Energy related)</a:t>
            </a:r>
          </a:p>
          <a:p>
            <a:r>
              <a:t>• These represent universal metrics with high global coverage.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Visualizing Indicator Frequency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Frequency of indicators across 204 countries.</a:t>
            </a:r>
          </a:p>
        </p:txBody>
      </p:sp>
      <p:pic>
        <p:nvPicPr>
          <p:cNvPr id="4" name="Picture 3" descr="indicator_frequ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Country Coverage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Most countries have 6 to 8 ESG indicator records.</a:t>
            </a:r>
          </a:p>
          <a:p>
            <a:r>
              <a:t>• Top Performers:</a:t>
            </a:r>
          </a:p>
          <a:p>
            <a:r>
              <a:t>  - Georgia (GEO): 10 indicators</a:t>
            </a:r>
          </a:p>
          <a:p>
            <a:r>
              <a:t>  - Moldova (MDA): 9 indicators</a:t>
            </a:r>
          </a:p>
          <a:p>
            <a:r>
              <a:t>  - Tanzania (TZA), Bangladesh (BGD), China (CHN): 8 indicators</a:t>
            </a:r>
          </a:p>
          <a:p>
            <a:r>
              <a:t>• Higher record counts suggest better reporting infrastructure or inclusion in more ESG studies.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Indicator Distribution Per Country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Most countries clusters around 6-7 indicators.</a:t>
            </a:r>
          </a:p>
        </p:txBody>
      </p:sp>
      <p:pic>
        <p:nvPicPr>
          <p:cNvPr id="4" name="Picture 3" descr="indicators_per_country_d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15 Countries by Record Count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Geographic variety in top reporting countries.</a:t>
            </a:r>
          </a:p>
        </p:txBody>
      </p:sp>
      <p:pic>
        <p:nvPicPr>
          <p:cNvPr id="4" name="Picture 3" descr="top_count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286000"/>
            <a:ext cx="68580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Health &amp; Connectivity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Fertility Rate and Life Expectancy are the most consistently reported ESG metrics globally.</a:t>
            </a:r>
          </a:p>
          <a:p>
            <a:r>
              <a:t>• Internet usage has also become a standard ESG metric, appearing in 188 countries.</a:t>
            </a:r>
          </a:p>
          <a:p>
            <a:r>
              <a:t>• These metrics form the 'Social' pillar of ESG in this dataset.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Energy &amp; Environment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Renewable energy consumption and primary energy efficiency metrics (EG.EGY.*) are reported for 184 countries.</a:t>
            </a:r>
          </a:p>
          <a:p>
            <a:r>
              <a:t>• This high reporting rate shows global commitment to monitoring 'Environmental' metrics.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Insights: Data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Some indicators are extremely sparse:</a:t>
            </a:r>
          </a:p>
          <a:p>
            <a:r>
              <a:t>  - Population Density (EN.POP.DNST): Only 2 countries.</a:t>
            </a:r>
          </a:p>
          <a:p>
            <a:r>
              <a:t>  - Proportion of seats held by women (SG.GEN.PARL.ZS): Only 14 countries.</a:t>
            </a:r>
          </a:p>
          <a:p>
            <a:r>
              <a:t>• These gaps highlight areas where data collection or disclosure is lagging (Gender &amp; Detailed Demographics).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The dataset provides a robust view of core Social and Environmental metrics across 204 countries.</a:t>
            </a:r>
          </a:p>
          <a:p>
            <a:r>
              <a:t>• Key Strengths: High coverage for Life Expectancy, Energy, and Connectivity.</a:t>
            </a:r>
          </a:p>
          <a:p>
            <a:r>
              <a:t>• Areas for Improvement: Expanding gender representation and demographic detail records.</a:t>
            </a:r>
          </a:p>
          <a:p>
            <a:r>
              <a:t>• Strategic Use: Identifying countries with reliable ESG reporting for investment analysis.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